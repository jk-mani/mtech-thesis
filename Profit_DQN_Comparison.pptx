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Profit-Based DQN for Bike Rebalancing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Comparing Profit vs Lost-Demand Objectives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Why Profit-Based Rewards?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Current Approach: Minimize lost demand</a:t>
            </a:r>
          </a:p>
          <a:p>
            <a:pPr lvl="1">
              <a:spcAft>
                <a:spcPts val="800"/>
              </a:spcAft>
              <a:defRPr sz="1800"/>
            </a:pPr>
            <a:r>
              <a:t>  • Ignores operational costs (truck travel, labor)</a:t>
            </a:r>
          </a:p>
          <a:p>
            <a:pPr lvl="1">
              <a:spcAft>
                <a:spcPts val="800"/>
              </a:spcAft>
              <a:defRPr sz="1800"/>
            </a:pPr>
            <a:r>
              <a:t>  • May lead to excessive, unprofitable rebalancing</a:t>
            </a:r>
          </a:p>
          <a:p>
            <a:pPr>
              <a:spcAft>
                <a:spcPts val="800"/>
              </a:spcAft>
              <a:defRPr sz="2000"/>
            </a:pPr>
            <a:r>
              <a:t>• </a:t>
            </a:r>
          </a:p>
          <a:p>
            <a:pPr>
              <a:spcAft>
                <a:spcPts val="800"/>
              </a:spcAft>
              <a:defRPr sz="2000"/>
            </a:pPr>
            <a:r>
              <a:t>• Proposed Approach: Maximize profit</a:t>
            </a:r>
          </a:p>
          <a:p>
            <a:pPr lvl="1">
              <a:spcAft>
                <a:spcPts val="800"/>
              </a:spcAft>
              <a:defRPr sz="1800"/>
            </a:pPr>
            <a:r>
              <a:t>  • Profit = Revenue - Truck Cost - Lost Demand Penalty</a:t>
            </a:r>
          </a:p>
          <a:p>
            <a:pPr lvl="1">
              <a:spcAft>
                <a:spcPts val="800"/>
              </a:spcAft>
              <a:defRPr sz="1800"/>
            </a:pPr>
            <a:r>
              <a:t>  • Agent learns cost-efficient rebalancing strategies</a:t>
            </a:r>
          </a:p>
          <a:p>
            <a:pPr>
              <a:spcAft>
                <a:spcPts val="800"/>
              </a:spcAft>
              <a:defRPr sz="2000"/>
            </a:pPr>
            <a:r>
              <a:t>• </a:t>
            </a:r>
          </a:p>
          <a:p>
            <a:pPr>
              <a:spcAft>
                <a:spcPts val="800"/>
              </a:spcAft>
              <a:defRPr sz="2000"/>
            </a:pPr>
            <a:r>
              <a:t>• Goal: Show profit-DQN achieves better ROI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Economic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Trip Revenue (Distance-Based Pricing):</a:t>
            </a:r>
          </a:p>
          <a:p>
            <a:pPr lvl="1">
              <a:spcAft>
                <a:spcPts val="800"/>
              </a:spcAft>
              <a:defRPr sz="1800"/>
            </a:pPr>
            <a:r>
              <a:t>  • Revenue = $1.00 (base) + $0.75 × trip_km</a:t>
            </a:r>
          </a:p>
          <a:p>
            <a:pPr>
              <a:spcAft>
                <a:spcPts val="800"/>
              </a:spcAft>
              <a:defRPr sz="2000"/>
            </a:pPr>
            <a:r>
              <a:t>• </a:t>
            </a:r>
          </a:p>
          <a:p>
            <a:pPr>
              <a:spcAft>
                <a:spcPts val="800"/>
              </a:spcAft>
              <a:defRPr sz="2000"/>
            </a:pPr>
            <a:r>
              <a:t>• Truck Operating Cost:</a:t>
            </a:r>
          </a:p>
          <a:p>
            <a:pPr lvl="1">
              <a:spcAft>
                <a:spcPts val="800"/>
              </a:spcAft>
              <a:defRPr sz="1800"/>
            </a:pPr>
            <a:r>
              <a:t>  • Cost = $1.00 × truck_distance_km</a:t>
            </a:r>
          </a:p>
          <a:p>
            <a:pPr>
              <a:spcAft>
                <a:spcPts val="800"/>
              </a:spcAft>
              <a:defRPr sz="2000"/>
            </a:pPr>
            <a:r>
              <a:t>• </a:t>
            </a:r>
          </a:p>
          <a:p>
            <a:pPr>
              <a:spcAft>
                <a:spcPts val="800"/>
              </a:spcAft>
              <a:defRPr sz="2000"/>
            </a:pPr>
            <a:r>
              <a:t>• Lost Demand Penalty:</a:t>
            </a:r>
          </a:p>
          <a:p>
            <a:pPr lvl="1">
              <a:spcAft>
                <a:spcPts val="800"/>
              </a:spcAft>
              <a:defRPr sz="1800"/>
            </a:pPr>
            <a:r>
              <a:t>  • Penalty = $5.00 per lost trip</a:t>
            </a:r>
          </a:p>
          <a:p>
            <a:pPr>
              <a:spcAft>
                <a:spcPts val="800"/>
              </a:spcAft>
              <a:defRPr sz="2000"/>
            </a:pPr>
            <a:r>
              <a:t>• </a:t>
            </a:r>
          </a:p>
          <a:p>
            <a:pPr>
              <a:spcAft>
                <a:spcPts val="800"/>
              </a:spcAft>
              <a:defRPr sz="2000"/>
            </a:pPr>
            <a:r>
              <a:t>• Profit = Σ(Trip Revenue) - Truck Cost - Lost Penalty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Environment: GT0 Toy Model</a:t>
            </a:r>
          </a:p>
          <a:p>
            <a:pPr lvl="1">
              <a:spcAft>
                <a:spcPts val="800"/>
              </a:spcAft>
              <a:defRPr sz="1800"/>
            </a:pPr>
            <a:r>
              <a:t>  • 10 stations, 2 vehicles, 15-bike capacity</a:t>
            </a:r>
          </a:p>
          <a:p>
            <a:pPr>
              <a:spcAft>
                <a:spcPts val="800"/>
              </a:spcAft>
              <a:defRPr sz="2000"/>
            </a:pPr>
            <a:r>
              <a:t>• </a:t>
            </a:r>
          </a:p>
          <a:p>
            <a:pPr>
              <a:spcAft>
                <a:spcPts val="800"/>
              </a:spcAft>
              <a:defRPr sz="2000"/>
            </a:pPr>
            <a:r>
              <a:t>• Training: 50,000 timesteps each</a:t>
            </a:r>
          </a:p>
          <a:p>
            <a:pPr lvl="1">
              <a:spcAft>
                <a:spcPts val="800"/>
              </a:spcAft>
              <a:defRPr sz="1800"/>
            </a:pPr>
            <a:r>
              <a:t>  • Profit-DQN (PReLU): Trained with profit reward</a:t>
            </a:r>
          </a:p>
          <a:p>
            <a:pPr lvl="1">
              <a:spcAft>
                <a:spcPts val="800"/>
              </a:spcAft>
              <a:defRPr sz="1800"/>
            </a:pPr>
            <a:r>
              <a:t>  • Lost-Demand-DQN (ELU): Trained with -lost_demand reward</a:t>
            </a:r>
          </a:p>
          <a:p>
            <a:pPr>
              <a:spcAft>
                <a:spcPts val="800"/>
              </a:spcAft>
              <a:defRPr sz="2000"/>
            </a:pPr>
            <a:r>
              <a:t>• </a:t>
            </a:r>
          </a:p>
          <a:p>
            <a:pPr>
              <a:spcAft>
                <a:spcPts val="800"/>
              </a:spcAft>
              <a:defRPr sz="2000"/>
            </a:pPr>
            <a:r>
              <a:t>• Evaluation: 50 test episodes (unseen data)</a:t>
            </a:r>
          </a:p>
          <a:p>
            <a:pPr lvl="1">
              <a:spcAft>
                <a:spcPts val="800"/>
              </a:spcAft>
              <a:defRPr sz="1800"/>
            </a:pPr>
            <a:r>
              <a:t>  • Both models evaluated on same test scenarios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Policy Comparison Results (50 Test Episodes)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18872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Lost-Demand DQN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Profit DQN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Difference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Avg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$113.95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$128.01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+$14.06 (better)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Avg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$194.87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$198.20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+$3.33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Avg Truck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$57.22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$49.59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-$7.63 (less)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Avg Lost Penalty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$23.70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$20.60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-$3.10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Truck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57.22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49.59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-7.63 km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Lost Demand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6.60%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-0.64%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Profit Breakdown: Revenue vs Costs</a:t>
            </a:r>
          </a:p>
        </p:txBody>
      </p:sp>
      <p:pic>
        <p:nvPicPr>
          <p:cNvPr id="3" name="Picture 2" descr="profit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Profit DQN reduces truck costs while maintaining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Net Profit Comparison</a:t>
            </a:r>
          </a:p>
        </p:txBody>
      </p:sp>
      <p:pic>
        <p:nvPicPr>
          <p:cNvPr id="3" name="Picture 2" descr="profi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Profit DQN achieves $14.06 higher average profit per episode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Service Quality vs Economic Performance</a:t>
            </a:r>
          </a:p>
        </p:txBody>
      </p:sp>
      <p:pic>
        <p:nvPicPr>
          <p:cNvPr id="3" name="Picture 2" descr="policy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Profit DQN balances service quality with economic efficiency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Economic Parameter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Research Question:</a:t>
            </a:r>
          </a:p>
          <a:p>
            <a:pPr lvl="1">
              <a:spcAft>
                <a:spcPts val="800"/>
              </a:spcAft>
              <a:defRPr sz="1800"/>
            </a:pPr>
            <a:r>
              <a:t>  • How do economic parameters affect learned policies?</a:t>
            </a:r>
          </a:p>
          <a:p>
            <a:pPr>
              <a:spcAft>
                <a:spcPts val="800"/>
              </a:spcAft>
              <a:defRPr sz="2000"/>
            </a:pPr>
            <a:r>
              <a:t>• </a:t>
            </a:r>
          </a:p>
          <a:p>
            <a:pPr>
              <a:spcAft>
                <a:spcPts val="800"/>
              </a:spcAft>
              <a:defRPr sz="2000"/>
            </a:pPr>
            <a:r>
              <a:t>• Parameters varied:</a:t>
            </a:r>
          </a:p>
          <a:p>
            <a:pPr lvl="1">
              <a:spcAft>
                <a:spcPts val="800"/>
              </a:spcAft>
              <a:defRPr sz="1800"/>
            </a:pPr>
            <a:r>
              <a:t>  • Trip revenue: $0.50-$2.00 base + $0.50-$1.00/km</a:t>
            </a:r>
          </a:p>
          <a:p>
            <a:pPr lvl="1">
              <a:spcAft>
                <a:spcPts val="800"/>
              </a:spcAft>
              <a:defRPr sz="1800"/>
            </a:pPr>
            <a:r>
              <a:t>  • Truck cost: $0.50, $1.00, $2.00 per km</a:t>
            </a:r>
          </a:p>
          <a:p>
            <a:pPr lvl="1">
              <a:spcAft>
                <a:spcPts val="800"/>
              </a:spcAft>
              <a:defRPr sz="1800"/>
            </a:pPr>
            <a:r>
              <a:t>  • Lost demand penalty: $2.00, $5.00, $10.00 per trip</a:t>
            </a:r>
          </a:p>
          <a:p>
            <a:pPr>
              <a:spcAft>
                <a:spcPts val="800"/>
              </a:spcAft>
              <a:defRPr sz="2000"/>
            </a:pPr>
            <a:r>
              <a:t>• </a:t>
            </a:r>
          </a:p>
          <a:p>
            <a:pPr>
              <a:spcAft>
                <a:spcPts val="800"/>
              </a:spcAft>
              <a:defRPr sz="2000"/>
            </a:pPr>
            <a:r>
              <a:t>• Each config trained 50,000 timesteps, evaluated 50 episodes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Economic Sensitivity: Lost Demand Rate</a:t>
            </a:r>
          </a:p>
        </p:txBody>
      </p:sp>
      <p:pic>
        <p:nvPicPr>
          <p:cNvPr id="3" name="Picture 2" descr="economic_lost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Lower truck cost and baseline penalty achieve best service quality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Economic Parameter Sensitivity: Full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188720"/>
          <a:ext cx="8046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Cost/km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Penalty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Lost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$1+$0.75/km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$128.01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5.96%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high_revenue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$2+$1/km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$243.00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5.92%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low_revenue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$0.5+$0.5/km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$48.33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7.49%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low_cost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$1+$0.75/km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$149.09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5.86%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high_cost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$1+$0.75/km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$80.93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5.87%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low_penalty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$1+$0.75/km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$135.35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7.43%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high_penalty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$1+$0.75/km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$93.83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8.22%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cheap_aggressive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$1+$0.75/km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$124.60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6.13%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expensive_cons.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$1+$0.75/km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$97.88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7.53%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Policy Comparison:</a:t>
            </a:r>
          </a:p>
          <a:p>
            <a:pPr lvl="1">
              <a:spcAft>
                <a:spcPts val="800"/>
              </a:spcAft>
              <a:defRPr sz="1800"/>
            </a:pPr>
            <a:r>
              <a:t>  • Profit DQN achieves $14.06 higher profit per episode</a:t>
            </a:r>
          </a:p>
          <a:p>
            <a:pPr lvl="1">
              <a:spcAft>
                <a:spcPts val="800"/>
              </a:spcAft>
              <a:defRPr sz="1800"/>
            </a:pPr>
            <a:r>
              <a:t>  • Reduces truck costs by 13%, improves service by 0.64%</a:t>
            </a:r>
          </a:p>
          <a:p>
            <a:pPr>
              <a:spcAft>
                <a:spcPts val="800"/>
              </a:spcAft>
              <a:defRPr sz="2000"/>
            </a:pPr>
            <a:r>
              <a:t>• </a:t>
            </a:r>
          </a:p>
          <a:p>
            <a:pPr>
              <a:spcAft>
                <a:spcPts val="800"/>
              </a:spcAft>
              <a:defRPr sz="2000"/>
            </a:pPr>
            <a:r>
              <a:t>• Economic Parameter Impact (ranked by profit):</a:t>
            </a:r>
          </a:p>
          <a:p>
            <a:pPr lvl="1">
              <a:spcAft>
                <a:spcPts val="800"/>
              </a:spcAft>
              <a:defRPr sz="1800"/>
            </a:pPr>
            <a:r>
              <a:t>  • 1. Revenue pricing: Strongest impact ($48 → $243)</a:t>
            </a:r>
          </a:p>
          <a:p>
            <a:pPr lvl="1">
              <a:spcAft>
                <a:spcPts val="800"/>
              </a:spcAft>
              <a:defRPr sz="1800"/>
            </a:pPr>
            <a:r>
              <a:t>  • 2. Truck cost: Moderate ($81 → $149 at low cost)</a:t>
            </a:r>
          </a:p>
          <a:p>
            <a:pPr lvl="1">
              <a:spcAft>
                <a:spcPts val="800"/>
              </a:spcAft>
              <a:defRPr sz="1800"/>
            </a:pPr>
            <a:r>
              <a:t>  • 3. Lost penalty: Inverse effect (high penalty hurts)</a:t>
            </a:r>
          </a:p>
          <a:p>
            <a:pPr>
              <a:spcAft>
                <a:spcPts val="800"/>
              </a:spcAft>
              <a:defRPr sz="2000"/>
            </a:pPr>
            <a:r>
              <a:t>• </a:t>
            </a:r>
          </a:p>
          <a:p>
            <a:pPr>
              <a:spcAft>
                <a:spcPts val="800"/>
              </a:spcAft>
              <a:defRPr sz="2000"/>
            </a:pPr>
            <a:r>
              <a:t>• Best config: high_revenue ($243), Worst: low_revenue ($48)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Profit-Based DQN Benefits:</a:t>
            </a:r>
          </a:p>
          <a:p>
            <a:pPr lvl="1">
              <a:spcAft>
                <a:spcPts val="800"/>
              </a:spcAft>
              <a:defRPr sz="1800"/>
            </a:pPr>
            <a:r>
              <a:t>  • Better service: 5.96% vs 6.60% lost demand</a:t>
            </a:r>
          </a:p>
          <a:p>
            <a:pPr lvl="1">
              <a:spcAft>
                <a:spcPts val="800"/>
              </a:spcAft>
              <a:defRPr sz="1800"/>
            </a:pPr>
            <a:r>
              <a:t>  • Cost-aware decisions: Balances service vs efficiency</a:t>
            </a:r>
          </a:p>
          <a:p>
            <a:pPr>
              <a:spcAft>
                <a:spcPts val="800"/>
              </a:spcAft>
              <a:defRPr sz="2000"/>
            </a:pPr>
            <a:r>
              <a:t>• </a:t>
            </a:r>
          </a:p>
          <a:p>
            <a:pPr>
              <a:spcAft>
                <a:spcPts val="800"/>
              </a:spcAft>
              <a:defRPr sz="2000"/>
            </a:pPr>
            <a:r>
              <a:t>• Economic Parameter Insights:</a:t>
            </a:r>
          </a:p>
          <a:p>
            <a:pPr lvl="1">
              <a:spcAft>
                <a:spcPts val="800"/>
              </a:spcAft>
              <a:defRPr sz="1800"/>
            </a:pPr>
            <a:r>
              <a:t>  • Moderate penalty ($5) is optimal</a:t>
            </a:r>
          </a:p>
          <a:p>
            <a:pPr lvl="1">
              <a:spcAft>
                <a:spcPts val="800"/>
              </a:spcAft>
              <a:defRPr sz="1800"/>
            </a:pPr>
            <a:r>
              <a:t>  • Extreme penalties hurt convergence</a:t>
            </a:r>
          </a:p>
          <a:p>
            <a:pPr lvl="1">
              <a:spcAft>
                <a:spcPts val="800"/>
              </a:spcAft>
              <a:defRPr sz="1800"/>
            </a:pPr>
            <a:r>
              <a:t>  • Truck cost less impactful than expected</a:t>
            </a:r>
          </a:p>
          <a:p>
            <a:pPr>
              <a:spcAft>
                <a:spcPts val="800"/>
              </a:spcAft>
              <a:defRPr sz="2000"/>
            </a:pPr>
            <a:r>
              <a:t>• </a:t>
            </a:r>
          </a:p>
          <a:p>
            <a:pPr>
              <a:spcAft>
                <a:spcPts val="800"/>
              </a:spcAft>
              <a:defRPr sz="2000"/>
            </a:pPr>
            <a:r>
              <a:t>• Recommendations:</a:t>
            </a:r>
          </a:p>
          <a:p>
            <a:pPr lvl="1">
              <a:spcAft>
                <a:spcPts val="800"/>
              </a:spcAft>
              <a:defRPr sz="1800"/>
            </a:pPr>
            <a:r>
              <a:t>  • Use profit-based objectives for real deployments</a:t>
            </a:r>
          </a:p>
          <a:p>
            <a:pPr lvl="1">
              <a:spcAft>
                <a:spcPts val="800"/>
              </a:spcAft>
              <a:defRPr sz="1800"/>
            </a:pPr>
            <a:r>
              <a:t>  • Tune lost demand penalty carefully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